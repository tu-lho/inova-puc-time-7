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44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Tu-lho/inova-puc-time-7" TargetMode="Externa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92640" y="594360"/>
            <a:ext cx="1920240" cy="1920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HACKATHON INOVA AI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24231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GraphGuard Pix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de redes de fraude no Pix com Graph Neural Networks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atuais perguntam </a:t>
            </a:r>
            <a:r>
              <a:rPr lang="en-US" sz="1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“essa transação é suspeita?”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Nós perguntamos </a:t>
            </a:r>
            <a:r>
              <a:rPr lang="en-US" sz="17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“essa conta faz parte de uma rede suspeita?”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GraphGuard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CONTEXTO, PONTOS DE DOR E LACUNA DE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no Pix cresce mais rápido que as defesas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74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R$ 4,9 bi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perdas no Pix em 2024 (+70%)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874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11880" y="25420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recuperado pelo MED em 2025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1E2B4A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993392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 de mercado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269480" y="22402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Resolução BCB 501/2025 obriga rejeitar contas com “fundada suspeita de fraude” — mas não diz como. Cada banco precisa do critério. Ninguém entrega isso como produto.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2918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661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3566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de dor</a:t>
            </a:r>
            <a:endParaRPr lang="en-US" sz="18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245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1605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atuais analisam a transação isolada — não a rede</a:t>
            </a:r>
            <a:endParaRPr lang="en-US" sz="12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2744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6634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mula nova passa limpa: sem histórico, sem denúncia</a:t>
            </a:r>
            <a:endParaRPr lang="en-US" sz="12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3036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1663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DICT dá reputação por chave, não a estrutura de quem se conecta a quem</a:t>
            </a:r>
            <a:endParaRPr lang="en-US" sz="12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33288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25880" y="5669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MED remedia tarde demais — recupera menos de R$ 14 de cada R$ 100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355080" y="3291840"/>
            <a:ext cx="5166360" cy="2926080"/>
          </a:xfrm>
          <a:prstGeom prst="roundRect">
            <a:avLst>
              <a:gd name="adj" fmla="val 3125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62940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ninguém preenche a lacuna</a:t>
            </a:r>
            <a:endParaRPr lang="en-US" sz="18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224528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4088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 e Quod: bureaus que adicionaram antifraude — score por transação</a:t>
            </a:r>
            <a:endParaRPr lang="en-US" sz="12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727448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40880" y="4663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Rudder (DeLorean): ML clássico, sem modelagem de rede estrutural</a:t>
            </a:r>
            <a:endParaRPr lang="en-US" sz="12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230368"/>
            <a:ext cx="237744" cy="23774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40880" y="5166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banco enxerga só as próprias transações — fraude cross-banco é invisível</a:t>
            </a:r>
            <a:endParaRPr lang="en-US" sz="12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5733288"/>
            <a:ext cx="237744" cy="23774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40880" y="5669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oferece GNN + grafo federado entre bancos como produto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não vive numa transação. </a:t>
            </a:r>
            <a:r>
              <a:rPr lang="en-US" sz="3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 numa rede.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Modelamos as transações como um grafo — contas são nós, transferências são arestas. Uma Graph Neural Network aprende o comportamento de rede de cada conta e detecta três padrões invisíveis às defesas atuais: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9136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Smurfing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80360" y="391363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distribui um valor grande em vários menores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6908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/ layering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469087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de camadas que dilui o rastro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394960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546811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mula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546811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recebem de remetentes sem relação e repassam em lote</a:t>
            </a:r>
            <a:endParaRPr lang="en-US" sz="1200" dirty="0"/>
          </a:p>
        </p:txBody>
      </p:sp>
      <p:pic>
        <p:nvPicPr>
          <p:cNvPr id="14" name="Image 0" descr="graphguard-pix/data/graph_dar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0880" y="1371600"/>
            <a:ext cx="4846320" cy="4114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040880" y="5532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teal = contas legítimas. Periferia vermelha = mulas e sinks em anéis de fraude.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pilares do produto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777240" cy="777240"/>
          </a:xfrm>
          <a:prstGeom prst="ellipse">
            <a:avLst/>
          </a:prstGeom>
          <a:solidFill>
            <a:srgbClr val="1E2B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40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usado no brainstorm de padrões de fraude e engenharia das features de rede durante o </a:t>
            </a:r>
            <a:r>
              <a:rPr lang="en-US" sz="12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2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</a:t>
            </a:r>
            <a:r>
              <a:rPr lang="en-US" sz="12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utilizados</a:t>
            </a: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25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57400"/>
            <a:ext cx="777240" cy="777240"/>
          </a:xfrm>
          <a:prstGeom prst="ellipse">
            <a:avLst/>
          </a:prstGeom>
          <a:solidFill>
            <a:srgbClr val="1E2B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240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de risco em tempo real, propagação automática de suspeita pela rede ao confirmar uma fraude e retraining contínuo com novos casos.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97680"/>
            <a:ext cx="777240" cy="777240"/>
          </a:xfrm>
          <a:prstGeom prst="ellipse">
            <a:avLst/>
          </a:prstGeom>
          <a:solidFill>
            <a:srgbClr val="1E2B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4805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89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005840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plug-and-play no fluxo de pagamento do banco, resposta em &lt;100ms. Recebe IDs em hash + metadados — sem CPF em claro (LGPD).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97680"/>
            <a:ext cx="777240" cy="777240"/>
          </a:xfrm>
          <a:prstGeom prst="ellipse">
            <a:avLst/>
          </a:prstGeom>
          <a:solidFill>
            <a:srgbClr val="1E2B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4805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89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Escalável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6537960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API por consulta a grafo federado cross-banco. Cada banco novo melhora o modelo para todos — network effect defensável.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Validação, performance e potencial de mercado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validation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35584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291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forçada por regulação: BCB 501/506 obriga e pune (multa R$10k/dia)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7024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98448" y="42062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piloto: banco envia 90 dias anonimizados e recebe relatório de clusters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8464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98448" y="5120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 confirmada: nenhum concorrente entrega grafo de rede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4343400" y="173736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1E2B4A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05740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performance</a:t>
            </a:r>
            <a:endParaRPr lang="en-US" sz="16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355848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01768" y="3291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 0,99 e Average Precision 0,93 no MVP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70248"/>
            <a:ext cx="237744" cy="23774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01768" y="42062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mulas: 35% (filtro) → 100% (GraphGuard)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184648"/>
            <a:ext cx="237744" cy="23774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01768" y="5120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supera ML clássico em ~8–11 pts de recall (literatura)</a:t>
            </a:r>
            <a:endParaRPr lang="en-US" sz="1200" dirty="0"/>
          </a:p>
        </p:txBody>
      </p:sp>
      <p:sp>
        <p:nvSpPr>
          <p:cNvPr id="22" name="Shape 12"/>
          <p:cNvSpPr/>
          <p:nvPr/>
        </p:nvSpPr>
        <p:spPr>
          <a:xfrm>
            <a:off x="8046720" y="173736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057400"/>
            <a:ext cx="548640" cy="54864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36676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6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355848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8705088" y="3291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Alvo: ~200 fintechs + bancos médios e marketplaces no Brasil</a:t>
            </a:r>
            <a:endParaRPr lang="en-US" sz="12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270248"/>
            <a:ext cx="237744" cy="237744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8705088" y="42062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camadas: API (R$0,08/consulta) → SaaS (R$8–40k/mês) → federado (R$60k+/ano)</a:t>
            </a:r>
            <a:endParaRPr lang="en-US" sz="12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5184648"/>
            <a:ext cx="237744" cy="237744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8705088" y="51206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Vento regulatório: antifraude virou prioridade do BC para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9692640" y="640080"/>
            <a:ext cx="1828800" cy="1828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024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31520" y="3749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BCB 501 obriga rejeitar contas com fundada suspeita, mas não diz como. </a:t>
            </a: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Nós somos o como — e ficamos mais fortes a cada banco que entra.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731520" y="4846320"/>
            <a:ext cx="10698480" cy="1706880"/>
          </a:xfrm>
          <a:prstGeom prst="roundRect">
            <a:avLst>
              <a:gd name="adj" fmla="val 9600"/>
            </a:avLst>
          </a:prstGeom>
          <a:solidFill>
            <a:srgbClr val="16213B"/>
          </a:solidFill>
          <a:ln/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1005840" y="49194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GraphGuard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05840" y="55991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</a:t>
            </a:r>
            <a:r>
              <a:rPr lang="en-US" sz="13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João Victor P Bicalho · Pedro Huck Henrique · Tulio Gonçalves Vieira ]   ·   Hackathon INOVA AI · 2026</a:t>
            </a:r>
          </a:p>
          <a:p>
            <a:r>
              <a:rPr lang="en-US" sz="1600" dirty="0">
                <a:solidFill>
                  <a:srgbClr val="4E5C75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https://github.com/Tu-lho/inova-puc-time-7</a:t>
            </a:r>
            <a:endParaRPr lang="en-US" sz="1600" dirty="0">
              <a:solidFill>
                <a:srgbClr val="4E5C7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4E5C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https://app.notion.com/p/37b290292a8e80d6a201d6d773dca391?v=37b290292a8e8070bc8b000c2f5d42bd&amp;source=copy_link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662</Words>
  <Application>Microsoft Office PowerPoint</Application>
  <PresentationFormat>Widescreen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GraphGuard Pix — Pitch (6 slides)</dc:title>
  <dc:subject>PptxGenJS Presentation</dc:subject>
  <dc:creator>GraphGuard Pix</dc:creator>
  <cp:lastModifiedBy>João Victor Pereira Bicalho</cp:lastModifiedBy>
  <cp:revision>4</cp:revision>
  <dcterms:created xsi:type="dcterms:W3CDTF">2026-06-10T20:57:41Z</dcterms:created>
  <dcterms:modified xsi:type="dcterms:W3CDTF">2026-06-10T21:13:30Z</dcterms:modified>
</cp:coreProperties>
</file>